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48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11" Type="http://schemas.openxmlformats.org/officeDocument/2006/relationships/image" Target="../media/image13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40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6.jp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11" Type="http://schemas.openxmlformats.org/officeDocument/2006/relationships/image" Target="../media/image47.png"/><Relationship Id="rId10" Type="http://schemas.openxmlformats.org/officeDocument/2006/relationships/image" Target="../media/image33.png"/><Relationship Id="rId9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11" Type="http://schemas.openxmlformats.org/officeDocument/2006/relationships/image" Target="../media/image19.png"/><Relationship Id="rId10" Type="http://schemas.openxmlformats.org/officeDocument/2006/relationships/image" Target="../media/image39.png"/><Relationship Id="rId9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40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32.png"/><Relationship Id="rId7" Type="http://schemas.openxmlformats.org/officeDocument/2006/relationships/image" Target="../media/image43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19550" y="1716434"/>
            <a:ext cx="4152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ARTIGO CIENTÍFICO — PROJETO A3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181225"/>
            <a:ext cx="1158144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Sistema IoT de Monitoramento Inteligente de Enchentes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92199" y="3712666"/>
            <a:ext cx="5807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 Áreas Urbanas Críticas de São Paulo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465141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86000" y="4865191"/>
            <a:ext cx="7620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Arthur de Sousa • Paulo Henrique Luiz do Monte • Raphael Francisco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574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Contexto e Problematização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6692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22574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Desafio Urbano: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Enchentes recorrentes afetam mobilidade, segurança e infraestrutura.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009900"/>
            <a:ext cx="494347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Causas Principais: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46101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Lacuna Atual: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Falta de detecção precoce em ruas, cruzamentos e galerias (o foco atual é apenas em grandes rios).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3145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670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6725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152525" y="340995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Urbanização acelerada e impermeabilização do solo.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4162425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Infraestrutura insuficiente e bueiros obstruídos.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671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21957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66900"/>
            <a:ext cx="110299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Objetivos do Projeto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3800475"/>
            <a:ext cx="115814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Objetivos Específicos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2152650"/>
            <a:ext cx="109313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Objetivo Geral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2619375"/>
            <a:ext cx="10410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Desenvolver a proposta de um sistema IoT para o monitoramento inteligente de enchentes em pontos críticos da cidade de São Paulo.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426720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Identificar tecnologias IoT aplicáveis à detecção de enchentes.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4714875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Analisar soluções existentes e suas limitações (custo, foco em rios).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5162550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Projetar a arquitetura de hardware, comunicação e plataforma de dados.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5610225"/>
            <a:ext cx="1074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Definir um modelo de detecção e alerta em tempo real.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243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7720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2197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66737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69989"/>
            <a:ext cx="3517850" cy="2384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769989"/>
            <a:ext cx="3517850" cy="2384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769989"/>
            <a:ext cx="3517999" cy="238482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Referencial Teórico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1750" y="301763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53111" y="3589139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Internet das Coisas (IoT)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28675" y="3932039"/>
            <a:ext cx="30225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Conexão de objetos físicos à internet para comunicação autônoma, coleta e análise de dados em tempo real.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01763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509086" y="3589139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Cidades Inteligentes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584650" y="3932039"/>
            <a:ext cx="30225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de tecnologia para otimizar serviços urbanos. Exemplos: Barcelona e Singapura já usam sensores para gestão ambiental.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7662" y="301763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265058" y="3589139"/>
            <a:ext cx="317383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Monitoramento de Enchentes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40625" y="3932039"/>
            <a:ext cx="30226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Mudança de foco: de rios para bueiros e ruas. Uso de sensores ultrassônicos para previsão em estágios iniciais.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700" y="288369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288369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34517" y="28836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Metodologia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16478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Pesquisa descritiva e exploratória, com abordagem qualitativa e caráter aplicado, organizada em três etapas: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4486275"/>
            <a:ext cx="11029950" cy="1905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489100" y="3936737"/>
            <a:ext cx="38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Levantamento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81025" y="4757737"/>
            <a:ext cx="3676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Estudo de soluções no Brasil e exterior e revisão bibliográfica.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165758" y="3936362"/>
            <a:ext cx="38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Análise Crítica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257675" y="4757737"/>
            <a:ext cx="3676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Identificação de lacunas: alto custo, falta de dados públicos e foco restrito.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842458" y="3936737"/>
            <a:ext cx="38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Desenvolvimento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934325" y="4757737"/>
            <a:ext cx="3676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Estruturação do sistema IoT (Hardware, Comms, Cloud) focado em baixo custo.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69989"/>
            <a:ext cx="2578893" cy="2384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769989"/>
            <a:ext cx="2578893" cy="2384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769989"/>
            <a:ext cx="2578893" cy="2384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2081" y="2769989"/>
            <a:ext cx="2578893" cy="2384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Proposta de Solução IoT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9971" y="301763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76585" y="358913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Sensores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28675" y="3932039"/>
            <a:ext cx="20835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Ultrassônico (Nível), Vazão (Fluxo), Chuva e Obstrução.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73178" y="301763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593603" y="358913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Comunicação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3645693" y="393203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LoRaWAN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(longa distância/baixo consumo), 4G/5G e Wi-Fi local.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4009" y="301763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410622" y="358913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Plataforma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62712" y="393203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Banco de dados, Dashboard em tempo real e Algoritmos de previsão.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4840" y="301763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9227641" y="358913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Alertas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279731" y="3932039"/>
            <a:ext cx="2083593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Notificações para moradores e mensagens automáticas para a Defesa Civil.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5740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504432"/>
            <a:ext cx="5038725" cy="8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Arquitetura do Sistema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81025" y="2551807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Camadas do Sistema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66925"/>
            <a:ext cx="21812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866775" y="3018532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Percepção: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Nós de monitoramento em bueiros.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3466207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Transmissão via LoRaWAN.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3913882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Aplicação: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Processamento em nuvem.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71525" y="4694932"/>
            <a:ext cx="4657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arquitetura foca em escalabilidade e robustez contra falhas de conexão.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756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2335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7103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73303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title="unnamed (1)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1750" y="2066925"/>
            <a:ext cx="5229225" cy="38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7741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47825"/>
            <a:ext cx="5229225" cy="1649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87935"/>
            <a:ext cx="5229225" cy="1649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5328050"/>
            <a:ext cx="5032600" cy="14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Especificações de Hardware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691125" y="1958900"/>
            <a:ext cx="497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4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Microcontrolador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29400" y="2562225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ESP32: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Baixo consumo (deep sleep), baixo custo e alta conectividade.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815713" y="3770473"/>
            <a:ext cx="497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6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Sensor de Nível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29400" y="4402335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JSN-SR04T: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Ultrassônico submersível. Resistente à umidade e ambientes corrosivos.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770450" y="5639146"/>
            <a:ext cx="497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4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Alimentação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29400" y="6242446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Baterias de íon de lítio + Painéis solares para autonomia energética.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1895475"/>
            <a:ext cx="42445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3735585"/>
            <a:ext cx="18633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5575696"/>
            <a:ext cx="42445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1025" y="2407750"/>
            <a:ext cx="52292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Modelo Preditivo e Análise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81025" y="244792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Engenharia de Dados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81025" y="41148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Lógica de Detecção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866775" y="29146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Armazenamento em bancos otimizados (InfluxDB).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66775" y="33623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Filtros de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Média Móvel Exponencial (EMA)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para remover ruídos.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66775" y="45815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Atenção: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Nível &gt; 50%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66775" y="50292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Risco Iminente: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Nível &gt; 90%</a:t>
            </a:r>
            <a:endParaRPr/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18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194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38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8635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91879"/>
            <a:ext cx="2578893" cy="2141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891879"/>
            <a:ext cx="2578893" cy="2141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891879"/>
            <a:ext cx="2578893" cy="2141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2081" y="2891879"/>
            <a:ext cx="2578893" cy="214104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Impacto e Viabilidade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76585" y="371102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Econômico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28675" y="405392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Redução de prejuízos financeiros e menores custos emergenciais.</a:t>
            </a:r>
            <a:endParaRPr/>
          </a:p>
        </p:txBody>
      </p:sp>
      <p:pic>
        <p:nvPicPr>
          <p:cNvPr descr="image.png" id="259" name="Google Shape;25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9365" y="313952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3593603" y="371102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Social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3645693" y="405392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Aumento da segurança, redução de acidentes e acesso à informação.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14009" y="31395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6410622" y="371102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Ambiental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462712" y="405392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Menor contaminação por esgoto e melhor gestão de drenagem.</a:t>
            </a:r>
            <a:endParaRPr/>
          </a:p>
        </p:txBody>
      </p:sp>
      <p:pic>
        <p:nvPicPr>
          <p:cNvPr descr="image.png" id="265" name="Google Shape;26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31028" y="313952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9227641" y="3711029"/>
            <a:ext cx="21877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Técnico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9279731" y="4053929"/>
            <a:ext cx="208359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Sensores acessíveis, redes LoRaWAN existentes e nuvem escalável.</a:t>
            </a:r>
            <a:endParaRPr/>
          </a:p>
        </p:txBody>
      </p:sp>
      <p:pic>
        <p:nvPicPr>
          <p:cNvPr descr="image.png" id="268" name="Google Shape;268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36525" y="3139525"/>
            <a:ext cx="424457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5050"/>
            <a:ext cx="52292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05050"/>
            <a:ext cx="52292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Desafios e Considerações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876300" y="2600325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Desafios Operacionais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677025" y="2600325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8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Governança e Ética</a:t>
            </a:r>
            <a:endParaRPr/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628900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162050" y="3067050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Vandalismo: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Exige proteção IP68 e fixação segura.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162050" y="3819525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Manutenção: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Ambiente corrosivo exige revisões periódicas.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162050" y="4572000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Conectividade: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Barreiras físicas em subsolo podem afetar o sinal.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628900"/>
            <a:ext cx="3281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6962775" y="3067050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Definição clara de responsabilidade sobre alertas.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962775" y="3819525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Integração mandatória com protocolos da Defesa Civil.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962775" y="4572000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Colaboração intersetorial entre órgãos públicos.</a:t>
            </a:r>
            <a:endParaRPr/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31242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3876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6291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1242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876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462915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4888974" y="1008757"/>
            <a:ext cx="241405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2286000" y="1856482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sistema proposto é uma solução inovadora e acessível para São Paulo. Atuando diretamente nos pontos críticos, permite detecção precoce e respostas rápidas, salvando vidas e recursos.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4808550" y="3707614"/>
            <a:ext cx="257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